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653" autoAdjust="0"/>
    <p:restoredTop sz="94660"/>
  </p:normalViewPr>
  <p:slideViewPr>
    <p:cSldViewPr snapToGrid="0">
      <p:cViewPr varScale="1">
        <p:scale>
          <a:sx n="78" d="100"/>
          <a:sy n="78" d="100"/>
        </p:scale>
        <p:origin x="389" y="62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ma Neela" userId="659ba34ffadefcc7" providerId="LiveId" clId="{C55EFEA0-6BDA-471E-A955-1C8B9CF0EA44}"/>
    <pc:docChg chg="modSld">
      <pc:chgData name="Suma Neela" userId="659ba34ffadefcc7" providerId="LiveId" clId="{C55EFEA0-6BDA-471E-A955-1C8B9CF0EA44}" dt="2026-04-16T08:51:51.011" v="10" actId="255"/>
      <pc:docMkLst>
        <pc:docMk/>
      </pc:docMkLst>
      <pc:sldChg chg="addSp delSp modSp mod">
        <pc:chgData name="Suma Neela" userId="659ba34ffadefcc7" providerId="LiveId" clId="{C55EFEA0-6BDA-471E-A955-1C8B9CF0EA44}" dt="2026-04-16T08:51:51.011" v="10" actId="255"/>
        <pc:sldMkLst>
          <pc:docMk/>
          <pc:sldMk cId="1182242095" sldId="268"/>
        </pc:sldMkLst>
        <pc:spChg chg="mod">
          <ac:chgData name="Suma Neela" userId="659ba34ffadefcc7" providerId="LiveId" clId="{C55EFEA0-6BDA-471E-A955-1C8B9CF0EA44}" dt="2026-04-16T08:51:51.011" v="10" actId="255"/>
          <ac:spMkLst>
            <pc:docMk/>
            <pc:sldMk cId="1182242095" sldId="268"/>
            <ac:spMk id="2" creationId="{73BE61F5-0FAF-8C3B-27D0-8767A54E2546}"/>
          </ac:spMkLst>
        </pc:spChg>
        <pc:spChg chg="del">
          <ac:chgData name="Suma Neela" userId="659ba34ffadefcc7" providerId="LiveId" clId="{C55EFEA0-6BDA-471E-A955-1C8B9CF0EA44}" dt="2026-04-16T08:50:15.498" v="0" actId="931"/>
          <ac:spMkLst>
            <pc:docMk/>
            <pc:sldMk cId="1182242095" sldId="268"/>
            <ac:spMk id="3" creationId="{B77FC8BE-D478-2268-9BC3-519A2CB30459}"/>
          </ac:spMkLst>
        </pc:spChg>
        <pc:picChg chg="add mod ord">
          <ac:chgData name="Suma Neela" userId="659ba34ffadefcc7" providerId="LiveId" clId="{C55EFEA0-6BDA-471E-A955-1C8B9CF0EA44}" dt="2026-04-16T08:51:22.790" v="7" actId="14100"/>
          <ac:picMkLst>
            <pc:docMk/>
            <pc:sldMk cId="1182242095" sldId="268"/>
            <ac:picMk id="5" creationId="{1B644DE7-8884-FF22-4C8C-5C8A1A450CE5}"/>
          </ac:picMkLst>
        </pc:picChg>
        <pc:picChg chg="add mod">
          <ac:chgData name="Suma Neela" userId="659ba34ffadefcc7" providerId="LiveId" clId="{C55EFEA0-6BDA-471E-A955-1C8B9CF0EA44}" dt="2026-04-16T08:50:50.714" v="6" actId="1076"/>
          <ac:picMkLst>
            <pc:docMk/>
            <pc:sldMk cId="1182242095" sldId="268"/>
            <ac:picMk id="7" creationId="{FBC6EF62-A66D-F561-C2DA-978A10BDB85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DAF72D-18B3-4FF2-87E2-891ABCB3A949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125ABB-C93E-4B66-A303-700B4C407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19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125ABB-C93E-4B66-A303-700B4C407B8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1626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E8554-B1EC-428C-52B9-F4AE3FE1E9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985695-1F7E-837A-F461-891BD92014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DEB63-5177-BCE0-BABD-EDA6D7957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925CD-B7BE-4D06-8161-839D4E58ED1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4F5D9-8381-9C86-8DAD-A70E69937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CCB7F-A69D-65DC-5A7F-686866E68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C0AF-AB7C-4A6A-8893-06C4D8116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0327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F2C44-8DAE-9A31-5860-42B10BC89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FC5C9-2C5E-9E1D-DCD7-E0142AC3E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6942D-9605-9CC2-FE01-CE8090A84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925CD-B7BE-4D06-8161-839D4E58ED1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DE047-66B3-AE47-AB68-D081463F9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75E0E-89EB-F78E-9B08-5EF7E126B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C0AF-AB7C-4A6A-8893-06C4D8116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966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A1CF3-38B5-46BA-247D-A00915BE5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09E42-63F4-F7A1-F2D2-744F81C02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CC8EF-C93D-46D2-26D6-E61C352FE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925CD-B7BE-4D06-8161-839D4E58ED1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91BCF-3821-FECD-2A77-82FD2AA59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FA01C-D651-3405-4BA4-B928316D1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C0AF-AB7C-4A6A-8893-06C4D8116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330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F906B-1D3E-6DC2-6B6A-29731C311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18790-16A5-08D2-26E0-C5A46BD93C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F93D75-0F66-1BAB-B2D8-7E2F765BB7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EE07DC-FB96-6AC5-58BC-0A49388D2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925CD-B7BE-4D06-8161-839D4E58ED1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EBD16F-15A3-920F-699C-605458949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E1F55-7819-D5FD-EA99-75A6115C1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C0AF-AB7C-4A6A-8893-06C4D8116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7158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4F207-878C-6439-615F-F3CF8368D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BAF1B-9492-F1D7-EEBF-E5C845C31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003B8-654C-CBEB-3079-BDFFE08E09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347C0F-6422-5BD4-C59B-0C1B28D8C3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2DC831-0E44-2CB7-E565-EA7D41035C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9D2259-2D16-6C15-25DF-3EDEA7016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925CD-B7BE-4D06-8161-839D4E58ED1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38020C-236F-EED6-6515-CDB32410F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ED689A-0607-DE78-9BCD-E51101C13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C0AF-AB7C-4A6A-8893-06C4D8116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4374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688E4-4F2E-455A-FD2D-3A6F52F84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D112D-1D50-EFD5-00C3-2062EA8FF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925CD-B7BE-4D06-8161-839D4E58ED1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CE5F52-3E76-3054-5FE6-53C8F80CF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EE6954-7784-D6DB-89A3-D2540055F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C0AF-AB7C-4A6A-8893-06C4D8116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7592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5F2560-3720-EA15-67C5-63327BB83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925CD-B7BE-4D06-8161-839D4E58ED1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2DD160-F24D-BC95-745B-0BBBF321D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1EF45-50F6-ED02-0846-2EA5C8BF6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C0AF-AB7C-4A6A-8893-06C4D8116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469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EE2F5-6D6B-AB2F-40C3-A9F06A82C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4F4E8-79AA-6FE9-8A51-5252613C4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DE114B-83D7-3673-466F-432C3A0E8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48DDD-3B3B-D068-EEE9-9111CE3A8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925CD-B7BE-4D06-8161-839D4E58ED1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E21E5A-BA3D-0C18-695C-EA0AA9E8E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5AE435-0A62-FFB3-C45F-4AF9D9737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C0AF-AB7C-4A6A-8893-06C4D8116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0456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E67B4-73CA-9C3F-5756-573221D24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7EE5F1-CA76-0888-D994-D70BDDF059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47A4FD-78B2-CFDF-2463-E7D2535835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45B87C-DE2E-BC6E-E681-9328914D6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925CD-B7BE-4D06-8161-839D4E58ED1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3D1831-BE98-AB8E-6207-646AD7322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537743-A251-9A4A-6D3D-0D89E2978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C0AF-AB7C-4A6A-8893-06C4D8116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525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B82DC-CBE5-86C3-F5DE-E181ECE3D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5BFFA3-C9A4-AFFD-4823-71B527F17F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64D11-46E5-8965-9188-3DDBD0EF9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925CD-B7BE-4D06-8161-839D4E58ED1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9C719-FA34-3343-1971-098D3BFBC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0C58F-403D-B803-4865-467865E66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C0AF-AB7C-4A6A-8893-06C4D8116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6690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F3EB2B-3519-7EB7-F47A-425B40C73B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37EC6F-2542-F00D-D4B0-70FB2E8B66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F2C06-8EFE-BAB0-5556-A516F0153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925CD-B7BE-4D06-8161-839D4E58ED1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D45F6-200A-2DED-3CA8-EE1450099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36947-2BDD-4D96-5C10-291BC132F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C0AF-AB7C-4A6A-8893-06C4D8116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1874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832B89-8546-CE5A-878D-5DE2AECD3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EA91AC-8DB8-9E3B-E636-FAFF89F15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6EB54-FEEE-4318-E6C7-5FF533F5FD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925CD-B7BE-4D06-8161-839D4E58ED1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536B2-ECE4-BA8F-87C0-E11EACF9FF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32A49-C5F1-2F52-7F46-18B85725D5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02C0AF-AB7C-4A6A-8893-06C4D8116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416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9C57247-7141-4E99-0142-1423AFB7F7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39" y="0"/>
            <a:ext cx="11903722" cy="1432961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95358C-7C93-CBEF-3035-DD11C1143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98320"/>
            <a:ext cx="10714703" cy="465164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/>
              <a:t>                                                              </a:t>
            </a:r>
            <a:r>
              <a:rPr lang="en-IN" sz="2000" b="1" dirty="0">
                <a:solidFill>
                  <a:schemeClr val="accent1"/>
                </a:solidFill>
              </a:rPr>
              <a:t>Mini Project Abstract Presentation</a:t>
            </a:r>
          </a:p>
          <a:p>
            <a:pPr marL="0" indent="0" algn="ctr">
              <a:buNone/>
            </a:pPr>
            <a:r>
              <a:rPr lang="en-US" sz="2000" b="1" dirty="0"/>
              <a:t>        Lora Based </a:t>
            </a:r>
            <a:r>
              <a:rPr lang="en-US" sz="2000" b="1" dirty="0" err="1"/>
              <a:t>Multihop</a:t>
            </a:r>
            <a:r>
              <a:rPr lang="en-US" sz="2000" b="1" dirty="0"/>
              <a:t> Predictive Energy Demand Modelling For Wireless Communication Networks</a:t>
            </a:r>
          </a:p>
          <a:p>
            <a:pPr marL="0" indent="0">
              <a:buNone/>
            </a:pPr>
            <a:r>
              <a:rPr lang="en-US" sz="1600" b="1" dirty="0"/>
              <a:t>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en-US" sz="1800" b="1" dirty="0"/>
              <a:t>                                                                                                                                   student details:</a:t>
            </a:r>
          </a:p>
          <a:p>
            <a:pPr marL="0" indent="0">
              <a:buNone/>
            </a:pPr>
            <a:r>
              <a:rPr lang="en-IN" sz="1600" dirty="0"/>
              <a:t>                                                                                                                                          1. </a:t>
            </a:r>
            <a:r>
              <a:rPr lang="en-IN" sz="1600" dirty="0" err="1"/>
              <a:t>N.Varshika</a:t>
            </a:r>
            <a:r>
              <a:rPr lang="en-IN" sz="1600" dirty="0"/>
              <a:t>(23C31A04C4)</a:t>
            </a:r>
          </a:p>
          <a:p>
            <a:pPr marL="0" indent="0">
              <a:buNone/>
            </a:pPr>
            <a:r>
              <a:rPr lang="en-IN" sz="1600" dirty="0"/>
              <a:t>                                                                                                                                          2. </a:t>
            </a:r>
            <a:r>
              <a:rPr lang="en-IN" sz="1600" dirty="0" err="1"/>
              <a:t>V.Ravi</a:t>
            </a:r>
            <a:r>
              <a:rPr lang="en-IN" sz="1600" dirty="0"/>
              <a:t> Vardhan(23C31A04H1)</a:t>
            </a:r>
          </a:p>
          <a:p>
            <a:pPr marL="0" indent="0">
              <a:buNone/>
            </a:pPr>
            <a:r>
              <a:rPr lang="en-IN" sz="1600" dirty="0"/>
              <a:t>                                                                                                                                          3. </a:t>
            </a:r>
            <a:r>
              <a:rPr lang="en-IN" sz="1600" dirty="0" err="1"/>
              <a:t>S.Sharavana</a:t>
            </a:r>
            <a:r>
              <a:rPr lang="en-IN" sz="1600" dirty="0"/>
              <a:t> (23C31A04G0)</a:t>
            </a:r>
          </a:p>
          <a:p>
            <a:pPr marL="0" indent="0">
              <a:buNone/>
            </a:pPr>
            <a:r>
              <a:rPr lang="en-IN" sz="1600" dirty="0"/>
              <a:t>                                                                                                                                          4. </a:t>
            </a:r>
            <a:r>
              <a:rPr lang="en-IN" sz="1600" dirty="0" err="1"/>
              <a:t>S.Ravalika</a:t>
            </a:r>
            <a:r>
              <a:rPr lang="en-IN" sz="1600" dirty="0"/>
              <a:t>(23C31A04F4)</a:t>
            </a:r>
          </a:p>
          <a:p>
            <a:pPr marL="0" indent="0">
              <a:buNone/>
            </a:pPr>
            <a:r>
              <a:rPr lang="en-IN" sz="1600" dirty="0"/>
              <a:t>                                                                                                                                          5. </a:t>
            </a:r>
            <a:r>
              <a:rPr lang="en-IN" sz="1600" dirty="0" err="1"/>
              <a:t>P.Srinivas</a:t>
            </a:r>
            <a:r>
              <a:rPr lang="en-IN" sz="1600" dirty="0"/>
              <a:t>(23C31A04E3)</a:t>
            </a:r>
          </a:p>
          <a:p>
            <a:pPr marL="0" indent="0">
              <a:buNone/>
            </a:pPr>
            <a:r>
              <a:rPr lang="en-IN" sz="1600" dirty="0"/>
              <a:t>Supervisor Details:- </a:t>
            </a:r>
          </a:p>
          <a:p>
            <a:pPr marL="0" indent="0">
              <a:buNone/>
            </a:pPr>
            <a:r>
              <a:rPr lang="en-IN" sz="1600" dirty="0"/>
              <a:t>  </a:t>
            </a:r>
            <a:r>
              <a:rPr lang="en-IN" sz="1600" b="1" dirty="0" err="1"/>
              <a:t>Gatla.Sandeep</a:t>
            </a:r>
            <a:endParaRPr lang="en-IN" sz="1600" b="1" dirty="0"/>
          </a:p>
          <a:p>
            <a:pPr marL="0" indent="0">
              <a:buNone/>
            </a:pPr>
            <a:r>
              <a:rPr lang="en-IN" sz="1600" dirty="0"/>
              <a:t>Assistant professor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4667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A7336F-6730-B827-AE12-88F05C39C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Abstract:-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0D0F71-65BA-06B5-C361-2F5309357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/>
              <a:t>This project proposes a LoRa-based </a:t>
            </a:r>
            <a:r>
              <a:rPr lang="en-IN" sz="2000" dirty="0" err="1"/>
              <a:t>multihop</a:t>
            </a:r>
            <a:r>
              <a:rPr lang="en-IN" sz="2000" dirty="0"/>
              <a:t> wireless communication system integrated with predictive energy demand </a:t>
            </a:r>
            <a:r>
              <a:rPr lang="en-IN" sz="2000" dirty="0" err="1"/>
              <a:t>modelling.Machine</a:t>
            </a:r>
            <a:r>
              <a:rPr lang="en-IN" sz="2000" dirty="0"/>
              <a:t> learning algorithms are used to predict the future energy demand of wireless sensor </a:t>
            </a:r>
            <a:r>
              <a:rPr lang="en-IN" sz="2000" dirty="0" err="1"/>
              <a:t>nodes.Based</a:t>
            </a:r>
            <a:r>
              <a:rPr lang="en-IN" sz="2000" dirty="0"/>
              <a:t> on this prediction, the system can support energy-aware routing </a:t>
            </a:r>
            <a:r>
              <a:rPr lang="en-IN" sz="2000" dirty="0" err="1"/>
              <a:t>decisions.The</a:t>
            </a:r>
            <a:r>
              <a:rPr lang="en-IN" sz="2000" dirty="0"/>
              <a:t> proposed approach helps improve network lifetime, scalability, reliability, and overall energy efficiency in wireless communication networks.</a:t>
            </a:r>
          </a:p>
          <a:p>
            <a:r>
              <a:rPr lang="en-IN" sz="2000" dirty="0"/>
              <a:t>LoRa (Long Range) communication is widely used in low-power wide-area networks (LPWAN) for IoT </a:t>
            </a:r>
            <a:r>
              <a:rPr lang="en-IN" sz="2000" dirty="0" err="1"/>
              <a:t>applications.The</a:t>
            </a:r>
            <a:r>
              <a:rPr lang="en-IN" sz="2000" dirty="0"/>
              <a:t> system enhances energy efficiency in wireless sensor networks (WSNs). Predictive algorithms estimate future energy requirements to enable optimized routing and transmission</a:t>
            </a:r>
            <a:r>
              <a:rPr lang="en-IN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26310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E103C-0C71-ED83-412B-DA33F9728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664" y="365125"/>
            <a:ext cx="10418135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/>
                </a:solidFill>
              </a:rPr>
              <a:t>Problem Statement:-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ED620-19FB-5482-715E-85027F753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Traditional wireless sensor networks suffer from high energy consumption, limited communication range, and poor scalability.</a:t>
            </a:r>
          </a:p>
          <a:p>
            <a:r>
              <a:rPr lang="en-US" sz="2000" dirty="0"/>
              <a:t>In single-hop LoRa communication, nodes far from the gateway consume excessive power due to long-distance transmission.</a:t>
            </a:r>
          </a:p>
          <a:p>
            <a:r>
              <a:rPr lang="en-US" sz="2000" dirty="0"/>
              <a:t>Existing systems do not predict future energy demand, which leads to inefficient routing and reduced network lifetime.</a:t>
            </a:r>
          </a:p>
          <a:p>
            <a:r>
              <a:rPr lang="en-US" sz="2000" dirty="0"/>
              <a:t>Therefore, there is a need for predictive and energy-aware </a:t>
            </a:r>
            <a:r>
              <a:rPr lang="en-US" sz="2000" dirty="0" err="1"/>
              <a:t>multihop</a:t>
            </a:r>
            <a:r>
              <a:rPr lang="en-US" sz="2000" dirty="0"/>
              <a:t> communication.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891016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9AC6E-3883-D4E8-EBA2-83FE21A4F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/>
                </a:solidFill>
              </a:rPr>
              <a:t>Literature Survey:-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1C075-1F86-486F-F7B9-55EC9488C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From literature review, we found that most existing LoRa systems use single-hop communication.</a:t>
            </a:r>
          </a:p>
          <a:p>
            <a:r>
              <a:rPr lang="en-US" sz="2000" dirty="0"/>
              <a:t>Traditional routing protocols are static and do not consider predictive energy optimization.</a:t>
            </a:r>
          </a:p>
          <a:p>
            <a:r>
              <a:rPr lang="en-US" sz="2000" dirty="0"/>
              <a:t>Several IoT research works use machine learning for forecasting and optimization.</a:t>
            </a:r>
          </a:p>
          <a:p>
            <a:r>
              <a:rPr lang="en-US" sz="2000" dirty="0"/>
              <a:t>However, limited work combines LoRa </a:t>
            </a:r>
            <a:r>
              <a:rPr lang="en-US" sz="2000" dirty="0" err="1"/>
              <a:t>multihop</a:t>
            </a:r>
            <a:r>
              <a:rPr lang="en-US" sz="2000" dirty="0"/>
              <a:t> communication with predictive machine learning models for energy-aware routing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8768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D6B1D-1570-7700-11EE-08A29C92E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Objectives:-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64A97-8A25-60FA-006D-D5C7D839D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-&gt;The objectives of our project are: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First, to develop a LoRa </a:t>
            </a:r>
            <a:r>
              <a:rPr lang="en-US" sz="2000" dirty="0" err="1"/>
              <a:t>multihop</a:t>
            </a:r>
            <a:r>
              <a:rPr lang="en-US" sz="2000" dirty="0"/>
              <a:t> communication framework.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Second, to predict future energy demand of LoRa sensor nodes.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Third, to optimize routing based on predicted energy requirements.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Finally, to improve overall network lifetime and scalability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8997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B567F-0A60-90D3-A723-5407E810D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Existing Work:-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FC42F-06C6-0F90-85C7-3EE23AEAA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Existing systems mainly use single-hop LoRa communication.</a:t>
            </a:r>
          </a:p>
          <a:p>
            <a:r>
              <a:rPr lang="en-US" sz="2000" dirty="0"/>
              <a:t>Routing decisions are static and based only on current node parameters.</a:t>
            </a:r>
          </a:p>
          <a:p>
            <a:r>
              <a:rPr lang="en-US" sz="2000" dirty="0"/>
              <a:t>Energy optimization is reactive rather than predictive.</a:t>
            </a:r>
          </a:p>
          <a:p>
            <a:r>
              <a:rPr lang="en-US" sz="2000" dirty="0"/>
              <a:t>As a result, these systems experience inefficient routing and faster battery depletion.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278124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AF5AF-34B0-BF03-E0DA-8C17CD5BA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Proposed Methodology:-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7F573-71B4-E4CF-C530-BE74DBC71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60458" cy="4351338"/>
          </a:xfrm>
        </p:spPr>
        <p:txBody>
          <a:bodyPr/>
          <a:lstStyle/>
          <a:p>
            <a:r>
              <a:rPr lang="en-US" sz="2000" dirty="0"/>
              <a:t>In our proposed system, we first collect network parameters such as distance, remaining energy, traffic load, RSSI, and packet loss.</a:t>
            </a:r>
          </a:p>
          <a:p>
            <a:r>
              <a:rPr lang="en-US" sz="2000" dirty="0"/>
              <a:t>The dataset is preprocessed and balanced using SMOTE.</a:t>
            </a:r>
          </a:p>
          <a:p>
            <a:r>
              <a:rPr lang="en-US" sz="2000" dirty="0"/>
              <a:t>We then train machine learning models including Support Vector Machine and Random Forest.</a:t>
            </a:r>
          </a:p>
          <a:p>
            <a:r>
              <a:rPr lang="en-US" sz="2000" dirty="0"/>
              <a:t>These models predict the future energy demand of each node.</a:t>
            </a:r>
          </a:p>
          <a:p>
            <a:r>
              <a:rPr lang="en-US" sz="2000" dirty="0"/>
              <a:t>Based on predicted energy demand, routing decisions can be optimized for energy-efficient communication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920836-25D4-E350-1E78-954FC6C6D7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6114" y="0"/>
            <a:ext cx="3837685" cy="6587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230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147B32-F50E-FB62-0EA7-992313F86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904009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Block Diagram:-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3E9ADC4-4436-B657-DA89-D45BDB44C7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2" y="1704109"/>
            <a:ext cx="3932237" cy="3811588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This diagram illustrates the workflow of the proposed system, where LoRa network data is preprocessed and analyzed using machine learning models to predict energy demand. Based on the prediction, optimized </a:t>
            </a:r>
            <a:r>
              <a:rPr lang="en-US" sz="2000" dirty="0" err="1"/>
              <a:t>multihop</a:t>
            </a:r>
            <a:r>
              <a:rPr lang="en-US" sz="2000" dirty="0"/>
              <a:t> routing is performed for efficient wireless communication.</a:t>
            </a:r>
            <a:endParaRPr lang="en-IN" sz="2000" dirty="0"/>
          </a:p>
        </p:txBody>
      </p:sp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D8E864F8-FC70-C002-BC30-94A9B44B55A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20" b="10520"/>
          <a:stretch>
            <a:fillRect/>
          </a:stretch>
        </p:blipFill>
        <p:spPr>
          <a:xfrm>
            <a:off x="4959110" y="810491"/>
            <a:ext cx="6396278" cy="5050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19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BFFB1-493C-B9C8-4E52-0309681F1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System Design:-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C1E7E-9CBC-E8C5-1789-CC4A689E9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The system consists of multiple LoRa sensor nodes connected in a </a:t>
            </a:r>
            <a:r>
              <a:rPr lang="en-US" sz="2400" dirty="0" err="1"/>
              <a:t>multihop</a:t>
            </a:r>
            <a:r>
              <a:rPr lang="en-US" sz="2400" dirty="0"/>
              <a:t> network.</a:t>
            </a:r>
          </a:p>
          <a:p>
            <a:r>
              <a:rPr lang="en-US" sz="2400" dirty="0"/>
              <a:t>Sensor nodes communicate through intermediate relay nodes.</a:t>
            </a:r>
          </a:p>
          <a:p>
            <a:r>
              <a:rPr lang="en-US" sz="2400" dirty="0"/>
              <a:t>A gateway collects network data.</a:t>
            </a:r>
          </a:p>
          <a:p>
            <a:r>
              <a:rPr lang="en-US" sz="2400" dirty="0"/>
              <a:t>The machine learning prediction engine processes this data and estimates future energy demand.</a:t>
            </a:r>
          </a:p>
          <a:p>
            <a:r>
              <a:rPr lang="en-US" sz="2400" dirty="0"/>
              <a:t>Routing can then be optimized based on these predictions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0291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5F829-5476-E1D7-3D5E-A6D1578D7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Hardware </a:t>
            </a:r>
            <a:r>
              <a:rPr lang="en-IN" sz="3600" b="1" dirty="0" err="1">
                <a:solidFill>
                  <a:schemeClr val="accent1"/>
                </a:solidFill>
              </a:rPr>
              <a:t>Deatails</a:t>
            </a:r>
            <a:r>
              <a:rPr lang="en-IN" sz="3600" b="1" dirty="0">
                <a:solidFill>
                  <a:schemeClr val="accent1"/>
                </a:solidFill>
              </a:rPr>
              <a:t>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331A2-9928-BA85-6F26-062389501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hardware requirements for this project include a laptop or PC for implementation.</a:t>
            </a:r>
          </a:p>
          <a:p>
            <a:r>
              <a:rPr lang="en-US" sz="2400" dirty="0"/>
              <a:t>Optionally, LoRa modules and wireless sensor nodes can be used for prototype deployment.</a:t>
            </a:r>
          </a:p>
          <a:p>
            <a:r>
              <a:rPr lang="en-US" sz="2400" dirty="0"/>
              <a:t>In our project, the implementation is simulation/software-based.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89608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70B84-55A4-0582-E3A8-217DFB32A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Software Details:-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00B35-9A85-50EB-EB42-AE50F96F5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The software tools used are Python 3.x and Visual Studio Code.</a:t>
            </a:r>
          </a:p>
          <a:p>
            <a:r>
              <a:rPr lang="en-IN" sz="2400" dirty="0"/>
              <a:t>We used NumPy and Pandas for data handling,</a:t>
            </a:r>
          </a:p>
          <a:p>
            <a:r>
              <a:rPr lang="en-IN" sz="2400" dirty="0"/>
              <a:t>Scikit-learn for machine learning model implementation,</a:t>
            </a:r>
          </a:p>
          <a:p>
            <a:r>
              <a:rPr lang="en-IN" sz="2400" dirty="0"/>
              <a:t>and Matplotlib/Seaborn for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3615281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497C5-9E92-6111-9E7A-04E3C979F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Implementation Flow:-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51C1A-CCBA-6B03-56CA-33B25DEF6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First, the training dataset is loaded into Python.</a:t>
            </a:r>
          </a:p>
          <a:p>
            <a:r>
              <a:rPr lang="en-US" sz="2400" dirty="0"/>
              <a:t>Then labels are encoded and the data is split into training and testing sets.</a:t>
            </a:r>
          </a:p>
          <a:p>
            <a:r>
              <a:rPr lang="en-US" sz="2400" dirty="0"/>
              <a:t>SMOTE is applied for balancing class distribution.</a:t>
            </a:r>
          </a:p>
          <a:p>
            <a:r>
              <a:rPr lang="en-US" sz="2400" dirty="0"/>
              <a:t>SVM and Random Forest models are trained.</a:t>
            </a:r>
          </a:p>
          <a:p>
            <a:r>
              <a:rPr lang="en-US" sz="2400" dirty="0"/>
              <a:t>Performance metrics are calculated.</a:t>
            </a:r>
          </a:p>
          <a:p>
            <a:r>
              <a:rPr lang="en-US" sz="2400" dirty="0"/>
              <a:t>Finally, test data is passed for energy demand prediction.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5784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E61F5-0FAF-8C3B-27D0-8767A54E2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chemeClr val="accent1"/>
                </a:solidFill>
              </a:rPr>
              <a:t>Result:-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644DE7-8884-FF22-4C8C-5C8A1A450C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697" y="1377616"/>
            <a:ext cx="3657599" cy="4453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C6EF62-A66D-F561-C2DA-978A10BDB8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7317" y="1993294"/>
            <a:ext cx="4909677" cy="3837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242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416ED-1F9A-181F-1163-7EBA73C4F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 err="1">
                <a:solidFill>
                  <a:schemeClr val="accent1"/>
                </a:solidFill>
              </a:rPr>
              <a:t>Applications&amp;Future</a:t>
            </a:r>
            <a:r>
              <a:rPr lang="en-IN" sz="3600" b="1" dirty="0">
                <a:solidFill>
                  <a:schemeClr val="accent1"/>
                </a:solidFill>
              </a:rPr>
              <a:t> Scope:-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90422-DBD9-3479-5382-184852356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u="sng" dirty="0">
                <a:solidFill>
                  <a:schemeClr val="accent2">
                    <a:lumMod val="50000"/>
                  </a:schemeClr>
                </a:solidFill>
              </a:rPr>
              <a:t>-&gt;Applications</a:t>
            </a:r>
          </a:p>
          <a:p>
            <a:pPr lvl="1"/>
            <a:r>
              <a:rPr lang="en-IN" sz="2000" dirty="0"/>
              <a:t>Smart Agriculture</a:t>
            </a:r>
          </a:p>
          <a:p>
            <a:pPr lvl="1"/>
            <a:r>
              <a:rPr lang="en-IN" sz="2000" dirty="0"/>
              <a:t>Smart Cities</a:t>
            </a:r>
          </a:p>
          <a:p>
            <a:pPr lvl="1"/>
            <a:r>
              <a:rPr lang="en-IN" sz="2000" dirty="0"/>
              <a:t>Industrial IoT</a:t>
            </a:r>
          </a:p>
          <a:p>
            <a:pPr marL="0" indent="0">
              <a:buNone/>
            </a:pPr>
            <a:r>
              <a:rPr lang="en-IN" u="sng" dirty="0">
                <a:solidFill>
                  <a:schemeClr val="accent2">
                    <a:lumMod val="50000"/>
                  </a:schemeClr>
                </a:solidFill>
              </a:rPr>
              <a:t>-&gt;Future Scope</a:t>
            </a:r>
          </a:p>
          <a:p>
            <a:pPr lvl="1"/>
            <a:r>
              <a:rPr lang="en-IN" sz="2000" dirty="0"/>
              <a:t>Real-Time Edge Deployment</a:t>
            </a:r>
          </a:p>
          <a:p>
            <a:pPr lvl="1"/>
            <a:r>
              <a:rPr lang="en-IN" sz="2000" dirty="0"/>
              <a:t>Advanced Deep learning models</a:t>
            </a:r>
          </a:p>
          <a:p>
            <a:pPr lvl="1"/>
            <a:r>
              <a:rPr lang="en-IN" sz="2000" dirty="0"/>
              <a:t>Adaptive energy routing</a:t>
            </a:r>
          </a:p>
        </p:txBody>
      </p:sp>
    </p:spTree>
    <p:extLst>
      <p:ext uri="{BB962C8B-B14F-4D97-AF65-F5344CB8AC3E}">
        <p14:creationId xmlns:p14="http://schemas.microsoft.com/office/powerpoint/2010/main" val="2537917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EA941-D8E3-9239-C8C4-B0C21C1B8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Reference:-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014AD-1254-46AC-4949-5FCE9BDE9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(IEEE)</a:t>
            </a:r>
          </a:p>
          <a:p>
            <a:r>
              <a:rPr lang="en-IN" dirty="0"/>
              <a:t>F. Adelantado et al., IEEE, 2017</a:t>
            </a:r>
          </a:p>
          <a:p>
            <a:r>
              <a:rPr lang="en-IN" dirty="0"/>
              <a:t> A. Augustin et al., Sensors Journal, 2016</a:t>
            </a:r>
          </a:p>
          <a:p>
            <a:r>
              <a:rPr lang="en-IN" dirty="0"/>
              <a:t>LoRa Alliance Documentation</a:t>
            </a:r>
          </a:p>
          <a:p>
            <a:r>
              <a:rPr lang="en-IN" dirty="0"/>
              <a:t> Arduino &amp; MATLAB Documentation</a:t>
            </a:r>
          </a:p>
        </p:txBody>
      </p:sp>
    </p:spTree>
    <p:extLst>
      <p:ext uri="{BB962C8B-B14F-4D97-AF65-F5344CB8AC3E}">
        <p14:creationId xmlns:p14="http://schemas.microsoft.com/office/powerpoint/2010/main" val="3020965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802</Words>
  <Application>Microsoft Office PowerPoint</Application>
  <PresentationFormat>Widescreen</PresentationFormat>
  <Paragraphs>85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Abstract:-</vt:lpstr>
      <vt:lpstr>Problem Statement:-</vt:lpstr>
      <vt:lpstr>Literature Survey:-</vt:lpstr>
      <vt:lpstr>Objectives:-</vt:lpstr>
      <vt:lpstr>Existing Work:-</vt:lpstr>
      <vt:lpstr>Proposed Methodology:-</vt:lpstr>
      <vt:lpstr>Block Diagram:-</vt:lpstr>
      <vt:lpstr>System Design:-</vt:lpstr>
      <vt:lpstr>Hardware Deatails:-</vt:lpstr>
      <vt:lpstr>Software Details:-</vt:lpstr>
      <vt:lpstr>Implementation Flow:-</vt:lpstr>
      <vt:lpstr>Result:-</vt:lpstr>
      <vt:lpstr>Applications&amp;Future Scope:-</vt:lpstr>
      <vt:lpstr>Reference:-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Suma Neela</dc:creator>
  <cp:lastModifiedBy>Suma Neela</cp:lastModifiedBy>
  <cp:revision>4</cp:revision>
  <dcterms:created xsi:type="dcterms:W3CDTF">2026-04-14T07:54:48Z</dcterms:created>
  <dcterms:modified xsi:type="dcterms:W3CDTF">2026-04-16T08:52:00Z</dcterms:modified>
</cp:coreProperties>
</file>